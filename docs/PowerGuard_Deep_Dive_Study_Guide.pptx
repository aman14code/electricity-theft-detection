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91440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980B9"/>
                </a:solidFill>
                <a:latin typeface="Calibri"/>
              </a:defRPr>
            </a:pPr>
            <a:r>
              <a:t>POWERGUARD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Electricity Theft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  <a:latin typeface="Calibri"/>
              </a:defRPr>
            </a:pPr>
            <a:r>
              <a:t>Complete Deep Dive Study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645920" cy="12801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980B9"/>
                </a:solidFill>
                <a:latin typeface="Calibri"/>
              </a:defRPr>
            </a:pPr>
            <a:r>
              <a:t>8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Detection</a:t>
            </a:r>
            <a:br/>
            <a:r>
              <a:t>Factors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657600"/>
            <a:ext cx="1645920" cy="12801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980B9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ML</a:t>
            </a:r>
            <a:br/>
            <a:r>
              <a:t>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657600"/>
            <a:ext cx="1645920" cy="12801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980B9"/>
                </a:solidFill>
                <a:latin typeface="Calibri"/>
              </a:defRPr>
            </a:pPr>
            <a:r>
              <a:t>47+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Engineered</a:t>
            </a:r>
            <a:br/>
            <a:r>
              <a:t>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657600"/>
            <a:ext cx="1645920" cy="12801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980B9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Micro-</a:t>
            </a:r>
            <a:br/>
            <a: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ML + Heuristic Hybrid  |  SGCC Dataset  |  Ensemble Strategy  |  SHAP Explainability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THE PROBLEM: Electricity Theft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Non-Technical Loss (NTL)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India loses ~Rs.1.5 lakh crore/year to theft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Globally: $96 billion problem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20-25% of total electricity generated is stolen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39C12"/>
                </a:solidFill>
                <a:latin typeface="Calibri"/>
              </a:defRPr>
            </a:pPr>
            <a:r>
              <a:t>Why Can't Humans Find It?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B4B4B4"/>
                </a:solidFill>
                <a:latin typeface="Calibri"/>
              </a:defRPr>
            </a:pPr>
            <a:r>
              <a:t>Manual inspection covers only 2-5% of meters/year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B4B4B4"/>
                </a:solidFill>
                <a:latin typeface="Calibri"/>
              </a:defRPr>
            </a:pPr>
            <a:r>
              <a:t>Skilled thieves make it visually undetectable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B4B4B4"/>
                </a:solidFill>
                <a:latin typeface="Calibri"/>
              </a:defRPr>
            </a:pPr>
            <a:r>
              <a:t>Inspections cost Rs.500-2000 per visit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B4B4B4"/>
                </a:solidFill>
                <a:latin typeface="Calibri"/>
              </a:defRPr>
            </a:pPr>
            <a:r>
              <a:t>Data spoofing leaves zero physical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097280"/>
            <a:ext cx="3840480" cy="41148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Our Solution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Use smart meter telemetry data (already being collected)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 dimensions: consumption, voltage, current, power factor, frequency, tamper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ML + rule-based heuristics to find anomalies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Explainable results operators can act 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Technical Loss vs NTL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Technical: Heat in wires (physics, predictable)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Non-Technical: Theft (anomalous patterns, ML detectable)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THE 6 INPUT DIMENSIONS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697480" cy="20116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1. Consumption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Unit: kWh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Normal: 0.5-20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How much electricity consumed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097280"/>
            <a:ext cx="2697480" cy="20116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BC9C"/>
                </a:solidFill>
                <a:latin typeface="Calibri"/>
              </a:defRPr>
            </a:pPr>
            <a:r>
              <a:t>2. Voltage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Unit: Volts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Normal: 190-250V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Electrical pressure in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2697480" cy="20116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3. Current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Unit: Amps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Normal: 0.5-30A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Flow of electrons through 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383280"/>
            <a:ext cx="2697480" cy="20116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4. Power Factor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Unit: 0-1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Normal: 0.85-1.0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Real/Apparent power ratio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3383280"/>
            <a:ext cx="2697480" cy="20116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5. Frequency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Unit: Hz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Normal: 49.5-50.5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Grid oscillation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2697480" cy="20116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6. Tamper Flag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Unit: Bool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Normal: false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Hardware sensor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C40F"/>
                </a:solidFill>
                <a:latin typeface="Calibri"/>
              </a:defRPr>
            </a:pPr>
            <a:r>
              <a:t>Different theft techniques disturb different dimensions -- that's why we analyze all 6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THE 8 DETECTION FACTORS (Overview)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Consumption Drop  [25%]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Meter bypass during daytime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05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Tamper Detection  [20%]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Physical hardware tampering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48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BC9C"/>
                </a:solidFill>
                <a:latin typeface="Calibri"/>
              </a:defRPr>
            </a:pPr>
            <a:r>
              <a:t>Current Anomaly  [15%]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Current shunted around 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148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Voltage Anomaly  [10%]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Voltage manipulation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91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Power Factor  [10%]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Load manipulation via capacitors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291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Pattern Irregularity  [10%]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Day/night inversion, chaos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34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Frequency Deviation  [5%]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Illegal grid tapping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434840"/>
            <a:ext cx="4114800" cy="960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B4B4B4"/>
                </a:solidFill>
                <a:latin typeface="Calibri"/>
              </a:defRPr>
            </a:pPr>
            <a:r>
              <a:t>Flat-line Detection  [5%]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Spoofed/replayed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C40F"/>
                </a:solidFill>
                <a:latin typeface="Calibri"/>
              </a:defRPr>
            </a:pPr>
            <a:r>
              <a:t>Each factor scores 0.0 (clean) to 1.0 (theft). Combined via weighted average + boosting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FACTOR 1: CONSUMPTION DROP  [Weight: 25%]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Meter bypass during daytime hours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Zero kWh during 8AM-8PM is impossible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People use ACs, fridges, lights during day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Zero during peak hours = bypassed meter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Also checks: avg &lt; 30% of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Filter to peak hours (8AM-8PM)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Count zero-kWh readings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(zeros/total) x 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If avg &lt; 30% baseline -&gt; floor at 0.7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x5 multiplier: 20% zeros = score 1.0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25%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Strongest single indicator. Appears in 70%+ of confirmed theft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BC9C"/>
                </a:solidFill>
                <a:latin typeface="Calibri"/>
              </a:defRPr>
            </a:pPr>
            <a:r>
              <a:t>FACTOR 2: CURRENT ANOMALY  [Weight: 15%]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Physical meter bypass (current shunted around meter)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Ohm's Law: P = V x I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If voltage=220V, current=0.05A, but consumption&gt;0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-&gt; Physically IMPOSSIBLE without bypass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Current must flow through bypass wire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Find: current&lt;0.1A AND voltage&gt;200V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AND consumption&gt;0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(count/total) x 4)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Zero current + consumption&gt;0.5 -&gt; x8 boost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Violates basic electrical physics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15%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Physics-based signal. Very hard to fake or explain away. Less common than consumption drops.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FACTOR 3: TAMPER DETECTION  [Weight: 20%]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Physical tampering with meter hardware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Smart meters have accelerometers,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  reed switches, case-open detectors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Physical opening/shaking/magnet -&gt; tamper flag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Consecutive flags = sustained tampering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Random faults are isolated (1-2 flags)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tamper_ratio x 10)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-&gt; 10% tamper rate = score 1.0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Consecutive check: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5+ consecutive flags -&gt; score 0.9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(deliberate, not random noise)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20%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Physical hardware signal. Very reliable but can have false positives (storms, accidents).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Calibri"/>
              </a:defRPr>
            </a:pPr>
            <a:r>
              <a:t>FACTOR 4: VOLTAGE ANOMALY  [Weight: 10%]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Voltage manipulation to reduce metered consumption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Thieves use 'voltage divider' devices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Energy = V x I x 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Lower voltage = lower recorded consumption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Safe band: 190V-250V (India standard)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Extreme (&lt;170V or &gt;270V) = deliberate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Count readings outside 190-250V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(outliers/total) x 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Extreme voltage (&lt;170V or &gt;270V):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5x multiplier (deliberate manipulation)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vs grid fluctuation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10%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Voltage issues CAN be legitimate (grid problems during monsoon). Weighted lower for this reason.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FACTOR 5: POWER FACTOR  [Weight: 10%]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Load manipulation using capacitor banks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PF = Real Power / Apparent Power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PF=1.0: perfect efficiency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PF=0.3: 70% energy wasted as reactive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Thieves use capacitors to create low PF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Meter records less 'real power'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Count readings where PF &lt; 0.5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(low_pf/total) x 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Cross-reference: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PF&lt;0.3 AND consumption&lt;20% baseline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-&gt; x5 multiplier (VERY strong signal)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10%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Low PF alone can be legitimate (old motors). Combined with low consumption = strong theft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FACTOR 6: PATTERN IRREGULARITY  [Weight: 10%]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Reversed, chaotic, or artificially manipulated patterns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Normal: peaks at 8AM and 7PM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Theft: HIGH at 2AM, ZERO during day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Stealing when inspectors aren't watching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Also detects erratic/random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CV = std / mean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(CV-0.5) / 1.5)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Day/Night Inversion: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night_avg &gt; 2x day_avg -&gt; 0.6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day=0 but night&gt;0 -&gt; 0.85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mean=0 (active meter) -&gt; 0.8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10%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Catches behavioral anomalies that physics-based measures miss.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1C40F"/>
                </a:solidFill>
                <a:latin typeface="Calibri"/>
              </a:defRPr>
            </a:pPr>
            <a:r>
              <a:t>FACTOR 7: FREQUENCY DEVIATION  [Weight: 5%]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Grid-level anomalies from illegal high-power tapping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India grid: exactly 50 Hz (+/- 0.5 Hz)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Most tightly controlled grid parameter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Deviations: large illegal loads tapping in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Or generator running unsynchronized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Normal band: 49.0 - 51.0 Hz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Count readings outside band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(outliers/total) x 4)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Weak individual signal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Useful in combination with others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5%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Frequency affects entire grid, not just one meter. Weakest individual signal but adds value in ensemble.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B4B4"/>
                </a:solidFill>
                <a:latin typeface="Calibri"/>
              </a:defRPr>
            </a:pPr>
            <a:r>
              <a:t>FACTOR 8: FLAT-LINE DETECTION  [Weight: 5%]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What it detects: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Spoofed/replayed meter data (hacked firmware)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1C40F"/>
                </a:solidFill>
                <a:latin typeface="Calibri"/>
              </a:defRPr>
            </a:pPr>
            <a:r>
              <a:t>The Physics / Logic: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Real consumption is NEVER perfectly constant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Even a fridge has compressor cycles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Same kWh for 24 hours = pre-recorded fake data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Very specific attack (firmware hacking)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3931920" cy="4572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Algorithm: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unique_ratio = unique_values / total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= min(1.0, (1-unique_ratio)x2 - 0.5)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Last-24 check: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&lt;= 2 unique values in 24 readings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-&gt; score floor at 0.9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Why 5% weight?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Very specific attack type. When present, extremely obvious. But rare (requires technical sophistication).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WEIGHTED SCORING &amp; BOOSTING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8412480" cy="12801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The Formula: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theft_prob = (drop x 0.25) + (tamper x 0.20) + (current x 0.15) + (voltage x 0.10)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       + (PF x 0.10) + (pattern x 0.10) + (freq x 0.05) + (flatline x 0.05)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377440"/>
            <a:ext cx="393192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Boost Rule 1: Multi-Measure Agreement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If 3+ factors score above 0.5: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C40F"/>
                </a:solidFill>
                <a:latin typeface="Calibri"/>
              </a:defRPr>
            </a:pPr>
            <a:r>
              <a:t>  theft_prob = min(1.0, theft_prob x 1.3)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Why? Multiple independent detectors agreeing means real probability is HIGHER than weighted average.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377440"/>
            <a:ext cx="420624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Boost Rule 2: High-Confidence Floor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If ANY factor &gt;= 0.9: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C40F"/>
                </a:solidFill>
                <a:latin typeface="Calibri"/>
              </a:defRPr>
            </a:pPr>
            <a:r>
              <a:t>  theft_prob = max(0.40, theft_prob)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Why? One factor screaming 'theft' at 0.9 should NEVER be washed out by 7 clean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754880"/>
            <a:ext cx="8412480" cy="9144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Decision Threshold: anomaly_flag = true if probability &gt;= 30%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Why 30% (not 50%)?  Missing a thief costs Rs.50,000+/year. A false alarm costs Rs.500 (one inspection). 100:1 cost ratio.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WORKED EXAMPLE: Scoring a Suspicious Meter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8412480" cy="50292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1C40F"/>
                </a:solidFill>
                <a:latin typeface="Calibri"/>
              </a:defRPr>
            </a:pPr>
            <a:r>
              <a:t>Factor Scores: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Consumption Drop:   0.80 x 0.25 = 0.200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Tamper Detection:    0.90 x 0.20 = 0.180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Current Anomaly:     0.70 x 0.15 = 0.105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4B4B4"/>
                </a:solidFill>
                <a:latin typeface="Consolas"/>
              </a:defRPr>
            </a:pPr>
            <a:r>
              <a:t>Voltage Anomaly:     0.30 x 0.10 = 0.030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4B4B4"/>
                </a:solidFill>
                <a:latin typeface="Consolas"/>
              </a:defRPr>
            </a:pPr>
            <a:r>
              <a:t>Power Factor:        0.20 x 0.10 = 0.020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4B4B4"/>
                </a:solidFill>
                <a:latin typeface="Consolas"/>
              </a:defRPr>
            </a:pPr>
            <a:r>
              <a:t>Pattern Irregular:   0.40 x 0.10 = 0.040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4B4B4"/>
                </a:solidFill>
                <a:latin typeface="Consolas"/>
              </a:defRPr>
            </a:pPr>
            <a:r>
              <a:t>Frequency Deviat:    0.10 x 0.05 = 0.005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4B4B4"/>
                </a:solidFill>
                <a:latin typeface="Consolas"/>
              </a:defRPr>
            </a:pPr>
            <a:r>
              <a:t>Flat-line:           0.00 x 0.05 = 0.000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Weighted Sum = 0.580  (58%)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39C12"/>
                </a:solidFill>
                <a:latin typeface="Calibri"/>
              </a:defRPr>
            </a:pPr>
            <a:r>
              <a:t>Boost Rule 1:  3 factors &gt; 0.5 (drop, tamper, current) -&gt; x1.3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  0.580 x 1.3 = 0.754  (75.4%)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Result: 75.4% -&gt; CRITICAL RISK -&gt; Immediate field investigation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FEATURE ENGINEERING: 47+ Features in 6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Statistical (14)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mean, std, CV, skewness, kurtosis,</a:t>
            </a:r>
            <a:br/>
            <a:r>
              <a:t>percentiles (p10/25/75/90), IQR,</a:t>
            </a:r>
            <a:br/>
            <a:r>
              <a:t>range, min, max, median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0584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BC9C"/>
                </a:solidFill>
                <a:latin typeface="Calibri"/>
              </a:defRPr>
            </a:pPr>
            <a:r>
              <a:t>Temporal (10)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weekday/weekend ratio, seasonal Q1-Q4,</a:t>
            </a:r>
            <a:br/>
            <a:r>
              <a:t>month-over-month changes, trend ratio,</a:t>
            </a:r>
            <a:br/>
            <a:r>
              <a:t>autocorrelation (lag-1, lag-7)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0584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Anomaly (9)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zero-day count/ratio, sudden drops,</a:t>
            </a:r>
            <a:br/>
            <a:r>
              <a:t>flatline days, unique ratio,</a:t>
            </a:r>
            <a:br/>
            <a:r>
              <a:t>volatility index, below-baseline ratio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47472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Comparative (3)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zone z-score deviation,</a:t>
            </a:r>
            <a:br/>
            <a:r>
              <a:t>zone percentile rank,</a:t>
            </a:r>
            <a:br/>
            <a:r>
              <a:t>ratio-to-zone average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47472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Metadata (6)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consumer type (one-hot x3),</a:t>
            </a:r>
            <a:br/>
            <a:r>
              <a:t>baseline kWh, sanctioned load,</a:t>
            </a:r>
            <a:br/>
            <a:r>
              <a:t>consumption-to-sanctioned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Advanced (5)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entropy, last/first 30-day ratio,</a:t>
            </a:r>
            <a:br/>
            <a:r>
              <a:t>max consecutive below-threshold,</a:t>
            </a:r>
            <a:br/>
            <a:r>
              <a:t>weekday/weekend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C40F"/>
                </a:solidFill>
                <a:latin typeface="Calibri"/>
              </a:defRPr>
            </a:pPr>
            <a:r>
              <a:t>Raw '10 kWh today' is not enough. ML models need rich, multi-dimensional feature views.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CLASS IMBALANCE: 91.5% Honest vs 8.5% Theft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8412480" cy="109728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Problem: Accuracy Paradox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 model that ALWAYS predicts 'Honest' gets 91.5% accuracy but catches ZERO thieves. Useless!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743200" cy="32004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Solution 1: SMOTE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Creates synthetic thief samples</a:t>
            </a:r>
            <a:br/>
            <a:r>
              <a:t>Math: x_new = x_i + lambda x (x_zi - x_i)</a:t>
            </a:r>
            <a:br/>
            <a:r>
              <a:t>Balances to 50/50 training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286000"/>
            <a:ext cx="2743200" cy="32004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Solution 2: Class Weights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Model penalizes missing thief 6.25x more</a:t>
            </a:r>
            <a:br/>
            <a:r>
              <a:t>weight = n_total / (2 x n_theft)</a:t>
            </a:r>
            <a:br/>
            <a:r>
              <a:t>Forces model to 'care about' thieves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86000"/>
            <a:ext cx="2743200" cy="32004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Solution 3: Threshold Tuning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Find threshold that maximizes F1-score</a:t>
            </a:r>
            <a:br/>
            <a:r>
              <a:t>Usually ~0.35-0.45 (not default 0.50)</a:t>
            </a:r>
            <a:br/>
            <a:r>
              <a:t>Lower = catch more thieves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THE 5 ML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005840"/>
            <a:ext cx="283464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980B9"/>
                </a:solidFill>
                <a:latin typeface="Calibri"/>
              </a:defRPr>
            </a:pPr>
            <a:r>
              <a:t>Random Forest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300 trees voting</a:t>
            </a:r>
            <a:br/>
            <a:r>
              <a:t>max_depth=20, class_weight=balanced</a:t>
            </a:r>
            <a:br/>
            <a:r>
              <a:t>Strength: Feature importance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05840"/>
            <a:ext cx="283464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BC9C"/>
                </a:solidFill>
                <a:latin typeface="Calibri"/>
              </a:defRPr>
            </a:pPr>
            <a:r>
              <a:t>XGBoost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300 sequential boosted trees</a:t>
            </a:r>
            <a:br/>
            <a:r>
              <a:t>L1/L2 regularization, scale_pos_weight</a:t>
            </a:r>
            <a:br/>
            <a:r>
              <a:t>Strength: Best for tabular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283464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DNN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128-&gt;64-&gt;32 neural network</a:t>
            </a:r>
            <a:br/>
            <a:r>
              <a:t>Dropout 40%, BatchNorm, Early Stop</a:t>
            </a:r>
            <a:br/>
            <a:r>
              <a:t>Strength: Non-linear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3383280"/>
            <a:ext cx="283464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LSTM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2 stacked layers (128-&gt;64)</a:t>
            </a:r>
            <a:br/>
            <a:r>
              <a:t>Memory gates, dropout 0.3</a:t>
            </a:r>
            <a:br/>
            <a:r>
              <a:t>Strength: Time-series sequences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383280"/>
            <a:ext cx="283464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Isolation Forest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200 trees, unsupervised</a:t>
            </a:r>
            <a:br/>
            <a:r>
              <a:t>No labels needed, contamination=0.1</a:t>
            </a:r>
            <a:br/>
            <a:r>
              <a:t>Strength: Catches novel theft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80B9"/>
                </a:solidFill>
                <a:latin typeface="Calibri"/>
              </a:defRPr>
            </a:pPr>
            <a:r>
              <a:t>ENSEMBLE STRATEGY: Combining 5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023360" cy="27432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Soft Voting (Simple Average)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P_ensemble = (P_RF + P_XGB + P_DNN + P_LSTM + P_ISO) / 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1C40F"/>
                </a:solidFill>
                <a:latin typeface="Calibri"/>
              </a:defRPr>
            </a:pPr>
            <a:r>
              <a:t>Example: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RF: 0.72  XGB: 0.68  DNN: 0.81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LSTM: 0.55  ISO: 0.60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Ensemble = 0.672 (67.2%)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05840"/>
            <a:ext cx="4023360" cy="27432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Stacking (Meta-Learner)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Logistic Regression learns optimal weights for each model's prediction: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1C40F"/>
                </a:solidFill>
                <a:latin typeface="Calibri"/>
              </a:defRPr>
            </a:pPr>
            <a:r>
              <a:t>P = sigmoid(w1*P_RF + w2*P_XGB + w3*P_DNN + w4*P_LSTM + w5*P_ISO + 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If XGBoost is consistently more reliable, meta-learner automatically gives it higher weight.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023360"/>
            <a:ext cx="8412480" cy="18288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Why Not Just Use the Best Model?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Every model has blind spots. RF can't capture complex interactions. XGBoost may overfit. DNN is a black box. LSTM is overkill for non-temporal patterns. Isolation Forest has false positives.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The ensemble lets models COVER for each other's weaknesses.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EXPLAINABILITY: SHAP + Heuristic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8412480" cy="9144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The Black-Box Problem: Inspector asks "WHY 90% theft?" -- "Because neural network said so" is NOT acceptable.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4023360" cy="34747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Solution 1: SHAP Values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Game-theory math (Shapley values) breaks down which feature caused the high score: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anom_zero_day_ratio:  +0.23  (UP)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stat_cv:             +0.18  (UP)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comp_zone_deviation: +0.15  (UP)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onsolas"/>
              </a:defRPr>
            </a:pPr>
            <a:r>
              <a:t>meta_baseline_kwh:   -0.05  (down)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011680"/>
            <a:ext cx="4023360" cy="34747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Solution 2: 8-Measure Breakdown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heuristic ALWAYS runs to provide visual breakdown on dashboard: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980B9"/>
                </a:solidFill>
                <a:latin typeface="Consolas"/>
              </a:defRPr>
            </a:pPr>
            <a:r>
              <a:t>Consumption Drop:  80%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E74C3C"/>
                </a:solidFill>
                <a:latin typeface="Consolas"/>
              </a:defRPr>
            </a:pPr>
            <a:r>
              <a:t>Tamper Detection:  90%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ABC9C"/>
                </a:solidFill>
                <a:latin typeface="Consolas"/>
              </a:defRPr>
            </a:pPr>
            <a:r>
              <a:t>Current Anomaly:   70%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onsolas"/>
              </a:defRPr>
            </a:pPr>
            <a:r>
              <a:t>Voltage Anomaly:   30%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onsolas"/>
              </a:defRPr>
            </a:pPr>
            <a:r>
              <a:t>Power Factor:      20%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Physical explanation operators can understand and act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TRAINING PIPELINE: 7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005840"/>
            <a:ext cx="20574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Phase 1: Load SGCC Dataset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42,372 consumers x 1,035 days</a:t>
            </a:r>
            <a:br/>
            <a:r>
              <a:t>91.5% honest / 8.5% theft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1005840"/>
            <a:ext cx="20574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ABC9C"/>
                </a:solidFill>
                <a:latin typeface="Calibri"/>
              </a:defRPr>
            </a:pPr>
            <a:r>
              <a:t>Phase 2: Preprocessing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Forward/backward fill missing values</a:t>
            </a:r>
            <a:br/>
            <a:r>
              <a:t>Winsorize at 5th/95th percentile</a:t>
            </a:r>
            <a:br/>
            <a:r>
              <a:t>Engineer 47-65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20574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Phase 3: Class Imbalance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SMOTE (k=5 neighbors)</a:t>
            </a:r>
            <a:br/>
            <a:r>
              <a:t>Cost-sensitive class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005840"/>
            <a:ext cx="20574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Phase 4: Train 5 Models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RF(300) + XGBoost(300) + DNN</a:t>
            </a:r>
            <a:br/>
            <a:r>
              <a:t>+ LSTM + Isolation Forest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3474720"/>
            <a:ext cx="2807208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Phase 5: Ensemble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Soft Voting + Stacking</a:t>
            </a:r>
            <a:br/>
            <a:r>
              <a:t>Optimal threshold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968" y="3474720"/>
            <a:ext cx="2807208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Phase 6: Evaluation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Accuracy, Precision, Recall, F1</a:t>
            </a:r>
            <a:br/>
            <a:r>
              <a:t>AUC-ROC, PR-AUC, 5-Fold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3474720"/>
            <a:ext cx="2807208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1C40F"/>
                </a:solidFill>
                <a:latin typeface="Calibri"/>
              </a:defRPr>
            </a:pPr>
            <a:r>
              <a:t>Phase 7: SHAP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TreeExplainer on Random Forest</a:t>
            </a:r>
            <a:br/>
            <a:r>
              <a:t>Top 15 features by importance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6 SYNTHETIC THEFT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1. Meter Tampering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Consumption x 0.1-0.4</a:t>
            </a:r>
            <a:br/>
            <a:r>
              <a:t>Adjusted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0584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2. Bypass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Zero consumption blocks</a:t>
            </a:r>
            <a:br/>
            <a:r>
              <a:t>Copper wire around 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0584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3. Billing Irregularity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30-70% readings replaced</a:t>
            </a:r>
            <a:br/>
            <a:r>
              <a:t>Bribed reader / hacked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47472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4. Unauthorized Tap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Sudden drop to near-zero</a:t>
            </a:r>
            <a:br/>
            <a:r>
              <a:t>Direct grid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47472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BC9C"/>
                </a:solidFill>
                <a:latin typeface="Calibri"/>
              </a:defRPr>
            </a:pPr>
            <a:r>
              <a:t>5. Flat-line Spoof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Constant value forever</a:t>
            </a:r>
            <a:br/>
            <a:r>
              <a:t>Hacked meter firmware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2743200" cy="219456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6. Gradual Decay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Exponential decay to 5%</a:t>
            </a:r>
            <a:br/>
            <a:r>
              <a:t>Deliberate mechanical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C40F"/>
                </a:solidFill>
                <a:latin typeface="Calibri"/>
              </a:defRPr>
            </a:pPr>
            <a:r>
              <a:t>Each starts at random point (20-80% through timeline), maintains realistic seasonality before theft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05740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Precision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TP / (TP+FP)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Of all 'theft' predictions,</a:t>
            </a:r>
            <a:br/>
            <a:r>
              <a:t>how many correct?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005840"/>
            <a:ext cx="205740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Recall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TP / (TP+FN)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Of all actual thieves,</a:t>
            </a:r>
            <a:br/>
            <a:r>
              <a:t>how many caught?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05840"/>
            <a:ext cx="205740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F1-Score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2*(P*R)/(P+R)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Harmonic mean of</a:t>
            </a:r>
            <a:br/>
            <a:r>
              <a:t>Precision &amp;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005840"/>
            <a:ext cx="205740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AUC-ROC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1C40F"/>
                </a:solidFill>
                <a:latin typeface="Consolas"/>
              </a:defRPr>
            </a:pPr>
            <a:r>
              <a:t>Area under curve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Discrimination ability</a:t>
            </a:r>
            <a:br/>
            <a:r>
              <a:t>across all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383280"/>
            <a:ext cx="8412480" cy="25603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1C40F"/>
                </a:solidFill>
                <a:latin typeface="Calibri"/>
              </a:defRPr>
            </a:pPr>
            <a:r>
              <a:t>Confusion Matrix &amp; 5-Fold Cross-Validation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  <a:latin typeface="Calibri"/>
              </a:defRPr>
            </a:pPr>
            <a:r>
              <a:t>TN (True Negative)  = Honest correctly identified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  <a:latin typeface="Calibri"/>
              </a:defRPr>
            </a:pPr>
            <a:r>
              <a:t>TP (True Positive)   = Thief correctly caught!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39C12"/>
                </a:solidFill>
                <a:latin typeface="Calibri"/>
              </a:defRPr>
            </a:pPr>
            <a:r>
              <a:t>FP (False Positive)  = False alarm (wasted inspection, cost: Rs.500)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t>FN (False Negative) = MISSED thief! (cost: Rs.50,000+/year)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5-Fold Stratified CV: Split data into 5 parts, train on 4, test on 1. Rotate 5 times. Report mean +/- std.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980B9"/>
                </a:solidFill>
                <a:latin typeface="Calibri"/>
              </a:defRPr>
            </a:pPr>
            <a:r>
              <a:t>SYSTEM ARCHITECTURE: 4 Microservices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01168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2980B9"/>
                </a:solidFill>
                <a:latin typeface="Calibri"/>
              </a:defRPr>
            </a:pPr>
            <a:r>
              <a:t>React Frontend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Vite, Dashboard, Port 5173</a:t>
            </a:r>
            <a:br/>
            <a:r>
              <a:t>7 pages + JWT auth</a:t>
            </a:r>
            <a:br/>
            <a:r>
              <a:t>Recharts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005840"/>
            <a:ext cx="201168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Node.js API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Express, Port 5000</a:t>
            </a:r>
            <a:br/>
            <a:r>
              <a:t>Auth, CRUD, Stats</a:t>
            </a:r>
            <a:br/>
            <a:r>
              <a:t>Orchestrates ML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201168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FastAPI ML Service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Python, Port 8000</a:t>
            </a:r>
            <a:br/>
            <a:r>
              <a:t>8-Measure Heuristic</a:t>
            </a:r>
            <a:br/>
            <a:r>
              <a:t>Ensemble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005840"/>
            <a:ext cx="201168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BC9C"/>
                </a:solidFill>
                <a:latin typeface="Calibri"/>
              </a:defRPr>
            </a:pPr>
            <a:r>
              <a:t>MongoDB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Port 27017</a:t>
            </a:r>
            <a:br/>
            <a:r>
              <a:t>Meters, Readings, Alerts</a:t>
            </a:r>
            <a:br/>
            <a:r>
              <a:t>Compound Indexes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C40F"/>
                </a:solidFill>
                <a:latin typeface="Calibri"/>
              </a:defRPr>
            </a:pPr>
            <a:r>
              <a:t>Frontend  --(REST/JSON)--&gt;  Backend  --(HTTP POST)--&gt;  ML Service  |  Backend  --(Mongoose)--&gt;  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114800"/>
            <a:ext cx="8412480" cy="18288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Triple-Layer Fallback (System NEVER Fails)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  <a:latin typeface="Calibri"/>
              </a:defRPr>
            </a:pPr>
            <a:r>
              <a:t>Layer 1: ML Ensemble (ensemble_model.pkl) -&gt; Highest accuracy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39C12"/>
                </a:solidFill>
                <a:latin typeface="Calibri"/>
              </a:defRPr>
            </a:pPr>
            <a:r>
              <a:t>Layer 2: Python Heuristic (8-measure rules) -&gt; No model file needed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1C40F"/>
                </a:solidFill>
                <a:latin typeface="Calibri"/>
              </a:defRPr>
            </a:pPr>
            <a:r>
              <a:t>Layer 3: JavaScript Fallback (same algorithm in JS) -&gt; Zero external dependencies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B4B4B4"/>
                </a:solidFill>
                <a:latin typeface="Calibri"/>
              </a:defRPr>
            </a:pPr>
            <a:r>
              <a:t>Availability &gt; DRY principle for critical infrastructure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RISK CLASSIFICATION: 4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05740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7AE60"/>
                </a:solidFill>
                <a:latin typeface="Calibri"/>
              </a:defRPr>
            </a:pPr>
            <a:r>
              <a:t>LOW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0% - 29%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No action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097280"/>
            <a:ext cx="205740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1C40F"/>
                </a:solidFill>
                <a:latin typeface="Calibri"/>
              </a:defRPr>
            </a:pPr>
            <a:r>
              <a:t>MEDIUM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30% - 49%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Inspect within 30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205740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39C12"/>
                </a:solidFill>
                <a:latin typeface="Calibri"/>
              </a:defRPr>
            </a:pPr>
            <a:r>
              <a:t>HIGH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50% - 74%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Inspect within 7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097280"/>
            <a:ext cx="2057400" cy="22860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74C3C"/>
                </a:solidFill>
                <a:latin typeface="Calibri"/>
              </a:defRPr>
            </a:pPr>
            <a:r>
              <a:t>CRITICAL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75% - 100%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4B4B4"/>
                </a:solidFill>
                <a:latin typeface="Calibri"/>
              </a:defRPr>
            </a:pPr>
            <a:r>
              <a:t>Immediate investigation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80"/>
            <a:ext cx="8412480" cy="210312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980B9"/>
                </a:solidFill>
                <a:latin typeface="Calibri"/>
              </a:defRPr>
            </a:pPr>
            <a:r>
              <a:t>Data Flow: Button Click to Result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1. User clicks 'Analyze Anomalies' on a meter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2. Frontend sends POST /api/analyze/:meterId (JWT attached)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3. Backend verifies ownership, fetches 30 days of readings (~720 hourly)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4. Backend computes stats (mean/std/min/max for all 6 dimensions)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5. Backend POSTs to ML Service with 15s timeout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6. ML Service runs ensemble (or heuristic fallback), returns 8 scores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B4B4B4"/>
                </a:solidFill>
                <a:latin typeface="Calibri"/>
              </a:defRPr>
            </a:pPr>
            <a:r>
              <a:t>7. If anomaly -&gt; Alert created in MongoDB -&gt; Red banner + 8 progress bars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980B9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114800"/>
          </a:xfrm>
          <a:prstGeom prst="round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What We Built: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PowerGuard: full-stack ML-powered electricity theft detection system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Analyzes 6-dimensional smart meter telemetry in real-time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8-measure weighted heuristic engine with per-factor explainability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5-model ML ensemble (RF + XGBoost + DNN + LSTM + Isolation Forest)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Trained on SGCC dataset (42,372 consumers) with SMOTE for class imbalance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47+ engineered features across 6 categories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SHAP explainability for transparent, actionable predictions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4-service microservice architecture (React + Node.js + FastAPI + MongoDB)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Triple-layer fallback ensuring zero downtime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4-tier risk classification with one-click bulk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C40F"/>
                </a:solidFill>
                <a:latin typeface="Calibri"/>
              </a:defRPr>
            </a:pPr>
            <a:r>
              <a:t>For every component: What? -&gt; Why? -&gt; How? -&gt; Alternatives? -&gt; Trade-offs? -&gt; What would I change?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